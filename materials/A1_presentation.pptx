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C08A"/>
                </a:solidFill>
                <a:latin typeface="JetBrains Mono"/>
              </a:defRPr>
            </a:pPr>
            <a:r>
              <a:t>DEAF ENGINEERS AI WORKSHOP · VOL.01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4F2E0"/>
                </a:solidFill>
                <a:latin typeface="Noto Sans JP"/>
              </a:defRPr>
            </a:pPr>
            <a:r>
              <a:t>AIツール遍歴と</a:t>
            </a:r>
            <a:br/>
            <a:r>
              <a:t>これからの使い方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18288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下田 成大（しもだ なるひろ）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E7A"/>
                </a:solidFill>
                <a:latin typeface="JetBrains Mono"/>
              </a:defRPr>
            </a:pPr>
            <a:r>
              <a:t>2026.05.31 · Deaf Engineers AI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自己紹介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下田 成大（だーなる）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DaNARU 代表（2026年3月設立）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プログラミング初心者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AIエージェント12体と会社を運営中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社員は全員AI。人間は僕だけ。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377440"/>
            <a:ext cx="4846320" cy="3657600"/>
          </a:xfrm>
          <a:prstGeom prst="rect">
            <a:avLst/>
          </a:prstGeom>
          <a:solidFill>
            <a:srgbClr val="1B2A1F"/>
          </a:solidFill>
          <a:ln w="12700">
            <a:solidFill>
              <a:srgbClr val="4F6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C08A"/>
                </a:solidFill>
                <a:latin typeface="JetBrains Mono"/>
              </a:defRPr>
            </a:pPr>
            <a: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3464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# DaNARU — 会社憲法</a:t>
            </a: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社名: DaNARU（だーなる）</a:t>
            </a: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社員: 代表 + AIエージェント群</a:t>
            </a: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事業: AIを活用した複合収益事業</a:t>
            </a: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代表の仕事は意思決定＋認可だけ。</a:t>
            </a:r>
          </a:p>
          <a:p>
            <a:pPr>
              <a:spcAft>
                <a:spcPts val="2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実行は全部幕府がやる。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E7A"/>
                </a:solidFill>
                <a:latin typeface="JetBrains Mono"/>
              </a:defRPr>
            </a:pPr>
            <a:r>
              <a:t>~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C08A"/>
                </a:solidFill>
                <a:latin typeface="JetBrains Mono"/>
              </a:defRPr>
            </a:pPr>
            <a:r>
              <a:t>KEY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2E0"/>
                </a:solidFill>
                <a:latin typeface="Noto Sans JP"/>
              </a:defRPr>
            </a:pPr>
            <a:r>
              <a:t>今日伝えたいこと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8288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4F2E0"/>
                </a:solidFill>
                <a:latin typeface="Noto Sans JP"/>
              </a:rPr>
              <a:t>① プログラミング初心者でも、AIで会社を作れた</a:t>
            </a:r>
          </a:p>
          <a:p>
            <a:pPr>
              <a:spcAft>
                <a:spcPts val="800"/>
              </a:spcAft>
              <a:defRPr sz="28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F4F2E0"/>
                </a:solidFill>
                <a:latin typeface="Noto Sans JP"/>
              </a:rPr>
              <a:t>② 失敗しまくったけど、それが全部学びになった</a:t>
            </a:r>
          </a:p>
          <a:p>
            <a:pPr>
              <a:spcAft>
                <a:spcPts val="800"/>
              </a:spcAft>
              <a:defRPr sz="28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F4F2E0"/>
                </a:solidFill>
                <a:latin typeface="Noto Sans JP"/>
              </a:rPr>
              <a:t>③ 「何を作るか」より「どの問題を解くか」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01 · BEFORE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AI以前の世界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プログラミング初心者だった。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コードは読めても、自分では書けなかった。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・ドキュメントを読むのに時間がかかる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・エラーが出ても何が起きたか分からない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・「動くもの」を作るまでが果てしなく遠い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プログラミングを覚えたかったけど、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独学で壁にぶつかっていた。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02 · FIRST CONTACT —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ChatGPTとの出会い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2022年11月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ChatGPT 3.5がリリースされた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新しもの好きだから飛びついた。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「これまでとは違うチャットボット」に嬉々として使い倒した。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……でも、いつしか飽きて使わなくなった。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2025年春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GPT-4oの「ジブリ風」が流行った時、また飛びついた。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今度は飽きなかった。毎日使うようになった。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「キャズム」を超えた瞬間だった。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03 ·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AIツール遍歴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2022.11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ChatGPT 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初めてのAI。飛びついた→飽きた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2025 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80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GPT-4o 復帰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80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ジブリ風で再燃。今度は毎日使う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Cursor / 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74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コードエディタにAI統合。開発が変わった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2026.01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Claude との出会い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069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「判断力」の時代だと気づく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2026.03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Claude Code 導入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mdファイル1枚で会社を作れた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2026.03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57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AI幕府 始動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257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エージェント12体。江戸幕府モデル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15A2B"/>
                </a:solidFill>
                <a:latin typeface="JetBrains Mono"/>
              </a:defRPr>
            </a:pPr>
            <a:r>
              <a:t>2026.04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852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2A1F"/>
                </a:solidFill>
                <a:latin typeface="Noto Sans JP"/>
              </a:defRPr>
            </a:pPr>
            <a:r>
              <a:t>現在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852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6251"/>
                </a:solidFill>
                <a:latin typeface="Noto Sans JP"/>
              </a:defRPr>
            </a:pPr>
            <a:r>
              <a:t>放置で回る構造が完成しつつある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C08A"/>
                </a:solidFill>
                <a:latin typeface="JetBrains Mono"/>
              </a:defRPr>
            </a:pPr>
            <a:r>
              <a:t>CHAPTER 04 · TURNING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E7A"/>
                </a:solidFill>
                <a:latin typeface="JetBrains Mono"/>
              </a:defRPr>
            </a:pPr>
            <a:r>
              <a:t>~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2E0"/>
                </a:solidFill>
                <a:latin typeface="Noto Sans JP"/>
              </a:defRPr>
            </a:pPr>
            <a:r>
              <a:t>Claude Codeとの出会いが</a:t>
            </a:r>
            <a:br/>
            <a:r>
              <a:t>すべてを変えた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8288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CLAUDE.md というファイル1枚に、</a:t>
            </a: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会社の憲法を書いた。</a:t>
            </a: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AIがそれを読んで、</a:t>
            </a: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自律的に仕事を始めた。</a:t>
            </a: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プログラミング初心者の僕が、</a:t>
            </a:r>
          </a:p>
          <a:p>
            <a:pPr>
              <a:spcAft>
                <a:spcPts val="4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AIの「上司」になった瞬間。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743200"/>
            <a:ext cx="4846320" cy="3200400"/>
          </a:xfrm>
          <a:prstGeom prst="rect">
            <a:avLst/>
          </a:prstGeom>
          <a:solidFill>
            <a:srgbClr val="1B2A1F"/>
          </a:solidFill>
          <a:ln w="12700">
            <a:solidFill>
              <a:srgbClr val="4F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834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8C08A"/>
                </a:solidFill>
                <a:latin typeface="JetBrains Mono"/>
              </a:defRPr>
            </a:pPr>
            <a:r>
              <a:t>$ 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&gt; note記事の草稿を書いて</a:t>
            </a: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→ 将軍が文斎へルーティング...</a:t>
            </a: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&gt; このコードのバグを直して</a:t>
            </a: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→ 将軍が鳳山へルーティング...</a:t>
            </a: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&gt; 今週の使用量を報告して</a:t>
            </a: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8C08A"/>
                </a:solidFill>
                <a:latin typeface="JetBrains Mono"/>
              </a:defRPr>
            </a:pPr>
            <a:r>
              <a:t>→ 将軍が算之助へルーティング...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04 · AI BAKUFU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4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AI幕府 — 12体のエージェント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solidFill>
            <a:srgbClr val="1F4128"/>
          </a:solidFill>
          <a:ln w="12700">
            <a:solidFill>
              <a:srgbClr val="1F4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F2E0"/>
                </a:solidFill>
                <a:latin typeface="Noto Sans JP"/>
              </a:defRPr>
            </a:pPr>
            <a:r>
              <a:t>将軍（Claude Code）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FD5B4"/>
                </a:solidFill>
                <a:latin typeface="Noto Sans JP"/>
              </a:defRPr>
            </a:pPr>
            <a:r>
              <a:t>幕府統括。タスクを受けたら自律判断でチーム編成し、必要なエージェントに委任する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128"/>
                </a:solidFill>
                <a:latin typeface="Noto Sans JP"/>
              </a:defRPr>
            </a:pPr>
            <a:r>
              <a:t>林 文斎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5A2B"/>
                </a:solidFill>
                <a:latin typeface="JetBrains Mono"/>
              </a:defRPr>
            </a:pPr>
            <a:r>
              <a:t>瓦版方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6251"/>
                </a:solidFill>
                <a:latin typeface="Noto Sans JP"/>
              </a:defRPr>
            </a:pPr>
            <a:r>
              <a:t>コンテンツ・マーケ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840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128"/>
                </a:solidFill>
                <a:latin typeface="Noto Sans JP"/>
              </a:defRPr>
            </a:pPr>
            <a:r>
              <a:t>林 鳳山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5A2B"/>
                </a:solidFill>
                <a:latin typeface="JetBrains Mono"/>
              </a:defRPr>
            </a:pPr>
            <a:r>
              <a:t>頭取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6251"/>
                </a:solidFill>
                <a:latin typeface="Noto Sans JP"/>
              </a:defRPr>
            </a:pPr>
            <a:r>
              <a:t>開発・調査・戦略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840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128"/>
                </a:solidFill>
                <a:latin typeface="Noto Sans JP"/>
              </a:defRPr>
            </a:pPr>
            <a:r>
              <a:t>本多 智房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5A2B"/>
                </a:solidFill>
                <a:latin typeface="JetBrains Mono"/>
              </a:defRPr>
            </a:pPr>
            <a:r>
              <a:t>軍師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6251"/>
                </a:solidFill>
                <a:latin typeface="Noto Sans JP"/>
              </a:defRPr>
            </a:pPr>
            <a:r>
              <a:t>重い開発・設計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199" y="3840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128"/>
                </a:solidFill>
                <a:latin typeface="Noto Sans JP"/>
              </a:defRPr>
            </a:pPr>
            <a:r>
              <a:t>向井 影綱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5A2B"/>
                </a:solidFill>
                <a:latin typeface="JetBrains Mono"/>
              </a:defRPr>
            </a:pPr>
            <a:r>
              <a:t>御庭番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6251"/>
                </a:solidFill>
                <a:latin typeface="Noto Sans JP"/>
              </a:defRPr>
            </a:pPr>
            <a:r>
              <a:t>情報収集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8404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128"/>
                </a:solidFill>
                <a:latin typeface="Noto Sans JP"/>
              </a:defRPr>
            </a:pPr>
            <a:r>
              <a:t>松平 算之助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5A2B"/>
                </a:solidFill>
                <a:latin typeface="JetBrains Mono"/>
              </a:defRPr>
            </a:pPr>
            <a:r>
              <a:t>勘定奉行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4617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6251"/>
                </a:solidFill>
                <a:latin typeface="Noto Sans JP"/>
              </a:defRPr>
            </a:pPr>
            <a:r>
              <a:t>予算・使用量管理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6251"/>
                </a:solidFill>
                <a:latin typeface="JetBrains Mono"/>
              </a:defRPr>
            </a:pPr>
            <a:r>
              <a:t>+ 他7体（セキュリティ・品質監査・git管理・KPI分析・インフラ・反証・審議）が待機中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04 · HOW I USE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今の使い分け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128"/>
                </a:solidFill>
                <a:latin typeface="Noto Sans JP"/>
              </a:defRPr>
            </a:pPr>
            <a: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957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15A2B"/>
                </a:solidFill>
                <a:latin typeface="JetBrains Mono"/>
              </a:defRPr>
            </a:pPr>
            <a:r>
              <a:t>常時稼働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6251"/>
                </a:solidFill>
                <a:latin typeface="Noto Sans JP"/>
              </a:defRPr>
            </a:pPr>
            <a:r>
              <a:t>メイン。将軍として全タスクを統括</a:t>
            </a:r>
            <a:br/>
            <a:r>
              <a:t>12体のサブエージェントを自律運用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128"/>
                </a:solidFill>
                <a:latin typeface="Noto Sans JP"/>
              </a:defRPr>
            </a:pPr>
            <a:r>
              <a:t>Claude Sonnet/Opus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3957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15A2B"/>
                </a:solidFill>
                <a:latin typeface="JetBrains Mono"/>
              </a:defRPr>
            </a:pPr>
            <a:r>
              <a:t>常時稼働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6251"/>
                </a:solidFill>
                <a:latin typeface="Noto Sans JP"/>
              </a:defRPr>
            </a:pPr>
            <a:r>
              <a:t>テキスト生成・推敲（Sonnet）</a:t>
            </a:r>
            <a:br/>
            <a:r>
              <a:t>重い思考・戦略検証（Opus）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128"/>
                </a:solidFill>
                <a:latin typeface="Noto Sans JP"/>
              </a:defRPr>
            </a:pPr>
            <a:r>
              <a:t>Gemini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902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15A2B"/>
                </a:solidFill>
                <a:latin typeface="JetBrains Mono"/>
              </a:defRPr>
            </a:pPr>
            <a:r>
              <a:t>随時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6251"/>
                </a:solidFill>
                <a:latin typeface="Noto Sans JP"/>
              </a:defRPr>
            </a:pPr>
            <a:r>
              <a:t>クイック検索・画像認識</a:t>
            </a:r>
            <a:br/>
            <a:r>
              <a:t>判断に迷った時のセカンドオピニオン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8056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128"/>
                </a:solidFill>
                <a:latin typeface="Noto Sans JP"/>
              </a:defRPr>
            </a:pPr>
            <a:r>
              <a:t>Ollama（ローカル）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5902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15A2B"/>
                </a:solidFill>
                <a:latin typeface="JetBrains Mono"/>
              </a:defRPr>
            </a:pPr>
            <a:r>
              <a:t>実験時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74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6251"/>
                </a:solidFill>
                <a:latin typeface="Noto Sans JP"/>
              </a:defRPr>
            </a:pPr>
            <a:r>
              <a:t>qwen2.5:7b でA/B検証</a:t>
            </a:r>
            <a:br/>
            <a:r>
              <a:t>APIコストゼロで実験し放題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04 · AUTONOMOUS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放置で回る構造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Mac mini M4が24時間動いている。僕が寝ている間も。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2時間ごと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全市場スキャン＋自動トレード判定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15分ごと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ポジション監視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30分ごと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AI社員の死活チェック（heartbeat）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日2回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卒業条件の自動判定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月1回</a:t>
            </a:r>
            <a:r>
              <a:rPr sz="2000" b="0">
                <a:solidFill>
                  <a:srgbClr val="1B2A1F"/>
                </a:solidFill>
                <a:latin typeface="Noto Sans JP"/>
              </a:rPr>
              <a:t> — 資産配分の自動リバランス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僕の仕事は「意思決定」と「承認ボタン」だけ。</a:t>
            </a:r>
          </a:p>
          <a:p>
            <a:pPr>
              <a:spcAft>
                <a:spcPts val="4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実行は全部AIがやる。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05 ·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失敗から学んだこと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JetBrains Mono"/>
              </a:defRPr>
            </a:pPr>
            <a:r>
              <a:t>FAIL 01 — APIキー平文コミット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セキュリティ報告書にAPIキーをそのまま書いた。</a:t>
            </a:r>
          </a:p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git履歴に残るから、消しても手遅れ。</a:t>
            </a:r>
          </a:p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→ 以降「先頭4文字 + ...」ルールを全社徹底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JetBrains Mono"/>
              </a:defRPr>
            </a:pPr>
            <a:r>
              <a:t>FAIL 02 — AIプロセス暴走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Claude Max $200契約。エージェント12体を24時間稼働。</a:t>
            </a:r>
          </a:p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大量に生成したけど、中身を見てなかった。</a:t>
            </a:r>
          </a:p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→ AIは回すだけでは価値が出ない。回収して初めて価値になる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972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15A2B"/>
                </a:solidFill>
                <a:latin typeface="JetBrains Mono"/>
              </a:defRPr>
            </a:pPr>
            <a:r>
              <a:t>FAIL 03 — マイクラAIが全部忘れた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AIに「マイクラで生きろ」と放り込んだ。拠点を4つ作った……のに全部忘れた。</a:t>
            </a:r>
          </a:p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地図で見たら4つの点が散らばってた。「家に帰ろう」という感覚、AIにはない。</a:t>
            </a:r>
          </a:p>
          <a:p>
            <a:pPr>
              <a:spcAft>
                <a:spcPts val="600"/>
              </a:spcAft>
              <a:defRPr sz="1500">
                <a:solidFill>
                  <a:srgbClr val="4F6251"/>
                </a:solidFill>
                <a:latin typeface="Noto Sans JP"/>
              </a:defRPr>
            </a:pPr>
            <a:r>
              <a:t>→ AIは「手書き記録の外では記憶を活用できない」。だからCLAUDE.mdが必要。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C08A"/>
                </a:solidFill>
                <a:latin typeface="JetBrains Mono"/>
              </a:defRPr>
            </a:pPr>
            <a:r>
              <a:t>CHAPTER 06 · WHAT CAN WE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C9E7A"/>
                </a:solidFill>
                <a:latin typeface="JetBrains Mono"/>
              </a:defRPr>
            </a:pPr>
            <a:r>
              <a:t>~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2E0"/>
                </a:solidFill>
                <a:latin typeface="Noto Sans JP"/>
              </a:defRPr>
            </a:pPr>
            <a:r>
              <a:t>AIで自分の仕事を</a:t>
            </a:r>
            <a:br/>
            <a:r>
              <a:t>どう変えるか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8288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便利なSaaSはたくさんある。でも社内導入はセキュリティ審査が厳しい。</a:t>
            </a: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4F2E0"/>
                </a:solidFill>
                <a:latin typeface="Noto Sans JP"/>
              </a:rPr>
              <a:t>だったら、自分で作ればいい。</a:t>
            </a: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AIがあれば3時間でMVPが作れる時代。</a:t>
            </a: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コードレビュー要約、会議の構造化、リアルタイムマインドマップ——</a:t>
            </a: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「欲しいけど導入できない」を、自分の手で内製する。</a:t>
            </a: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4F2E0"/>
                </a:solidFill>
                <a:latin typeface="Noto Sans JP"/>
              </a:defRPr>
            </a:pPr>
            <a:r>
              <a:t>今日のハッカソンで、1つ作ってみよう。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CHAPTER 07 ·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これからの使い方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3ヶ月やって分かったこと。</a:t>
            </a:r>
          </a:p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① 「生成」ではなく「回収」を設計する。</a:t>
            </a:r>
          </a:p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   AIは回すだけでは価値が出ない。残す問いと気づきを決める。</a:t>
            </a:r>
          </a:p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② 「何を作るか」より「どの問題を解くか」。</a:t>
            </a:r>
          </a:p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   自分が困ってないものは続かない。</a:t>
            </a:r>
          </a:p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1B2A1F"/>
                </a:solidFill>
                <a:latin typeface="Noto Sans JP"/>
              </a:rPr>
              <a:t>③ SaaSを待たずに、自分で作る。</a:t>
            </a:r>
          </a:p>
          <a:p>
            <a:pPr>
              <a:spcAft>
                <a:spcPts val="300"/>
              </a:spcAft>
              <a:defRPr sz="2000">
                <a:solidFill>
                  <a:srgbClr val="1B2A1F"/>
                </a:solidFill>
                <a:latin typeface="Noto Sans JP"/>
              </a:defRPr>
            </a:pPr>
            <a:r>
              <a:t>   セキュリティ審査を待つより、3時間で内製する方が早い。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15A2B"/>
                </a:solidFill>
                <a:latin typeface="JetBrains Mono"/>
              </a:defRPr>
            </a:pPr>
            <a:r>
              <a:t>TODAY'S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F6251"/>
                </a:solidFill>
                <a:latin typeface="JetBrains Mono"/>
              </a:defRPr>
            </a:pPr>
            <a:r>
              <a:t>~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1F"/>
                </a:solidFill>
                <a:latin typeface="Noto Sans JP"/>
              </a:defRPr>
            </a:pPr>
            <a:r>
              <a:t>今日やること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3716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1B2A1F"/>
                </a:solidFill>
                <a:latin typeface="Noto Sans JP"/>
              </a:rPr>
              <a:t>① 自分に合ったAIツールを1つ見つける</a:t>
            </a: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  <a:r>
              <a:t>   全部使う必要はない。1つ「これ」を持って帰ればいい。</a:t>
            </a: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1B2A1F"/>
                </a:solidFill>
                <a:latin typeface="Noto Sans JP"/>
              </a:rPr>
              <a:t>② チームで「動くもの」を作る</a:t>
            </a: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  <a:r>
              <a:t>   完璧じゃなくていい。3時間で「動く」が最優先。</a:t>
            </a: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</a:pPr>
            <a:r>
              <a:rPr sz="2200" b="1">
                <a:solidFill>
                  <a:srgbClr val="1B2A1F"/>
                </a:solidFill>
                <a:latin typeface="Noto Sans JP"/>
              </a:rPr>
              <a:t>③ 「次に何をやるか」を決めて帰る</a:t>
            </a: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  <a:r>
              <a:t>   今日の体験を、明日からの武器にする。</a:t>
            </a: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</a:p>
          <a:p>
            <a:pPr>
              <a:spcAft>
                <a:spcPts val="300"/>
              </a:spcAft>
              <a:defRPr sz="2200">
                <a:solidFill>
                  <a:srgbClr val="1B2A1F"/>
                </a:solidFill>
                <a:latin typeface="Noto Sans JP"/>
              </a:defRPr>
            </a:pPr>
            <a:r>
              <a:t>では、午後のハッカソンで実際に作りましょう。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4F2E0"/>
                </a:solidFill>
                <a:latin typeface="Noto Sans JP"/>
              </a:defRPr>
            </a:pPr>
            <a:r>
              <a:t>登る山を</a:t>
            </a:r>
            <a:br/>
            <a:r>
              <a:t>決めよう。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572000"/>
            <a:ext cx="1828800" cy="50800"/>
          </a:xfrm>
          <a:prstGeom prst="rect">
            <a:avLst/>
          </a:prstGeom>
          <a:solidFill>
            <a:srgbClr val="C1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FD5B4"/>
                </a:solidFill>
                <a:latin typeface="Noto Sans JP"/>
              </a:defRPr>
            </a:pPr>
            <a:r>
              <a:t>質問・感想、なんでも。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9E7A"/>
                </a:solidFill>
                <a:latin typeface="JetBrains Mono"/>
              </a:defRPr>
            </a:pPr>
            <a:r>
              <a:t>Deaf Engineers AI Workshop Vol.01 · 2026.05.31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